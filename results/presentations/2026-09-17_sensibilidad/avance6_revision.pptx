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Arim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mo-regular.fntdata"/><Relationship Id="rId11" Type="http://schemas.openxmlformats.org/officeDocument/2006/relationships/slide" Target="slides/slide6.xml"/><Relationship Id="rId22" Type="http://schemas.openxmlformats.org/officeDocument/2006/relationships/font" Target="fonts/Arimo-italic.fntdata"/><Relationship Id="rId10" Type="http://schemas.openxmlformats.org/officeDocument/2006/relationships/slide" Target="slides/slide5.xml"/><Relationship Id="rId21" Type="http://schemas.openxmlformats.org/officeDocument/2006/relationships/font" Target="fonts/Arim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Arim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725deb1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725deb1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Conclusión principal: respuesta temprana y resolución de severidad pueden divergir. En BA, GraphStats reacciona con fuerza al principio, pero el score disminuye al seguir añadiendo aristas. Los controles del kernel y las comparaciones comunitarias en ER y SBM ayudan a explicar esta respuesta. No comparamos potencia estadística sin calibración. Estructura inspirada en Chua et al. (2025): https://www.lesswrong.com/posts/i3b9uQfjJjJkwZF4f/tips-on-empirical-research-slides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725deb10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725deb10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Prioridad: evaluar la hipótesis de pérdida de resolución ante adiciones y explicar sus mecanismos con controles. Los tiempos son orientativos para una reunión de avance. La última sección plantea qué calibrar antes de comparar sensibilidad de detección.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725deb10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725deb10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Resultados corregidos exclusivamente. BA y ER son pilotos sintéticos. SBM es un control adicional corregido. Cada configuración tiene tres réplicas de 100 grafos. Los valores de α comparten grafos y no son observaciones independientes. Mostramos las tres réplicas, sin intervalos binomiales ni afirmaciones de significación. Fuentes: results/analysis/2026-09-16_structural_insights y results/analysis/2026-09-17_mmd_explanation.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8e128a20f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8e128a20f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 corregido, 50 nodos y 97 aristas originales. Tres réplicas de 100 grafos. El máximo aparece en α = 0,3 tras 29 adiciones. Al llegar a 97 adiciones, el score cae 12,8 % en inserción aleatoria y 16,3 % en cierre de triángulos. Menor score no significa menor distancia de edición. Fuente: addition_sensitivity.json.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8e128a20f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8e128a20f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 cierre de triángulos, tres réplicas. En α = 0,1, GraphStats alcanza el 57,8 % de su máximo medio y WL el 8,4 %. Cada curva se normaliza por su propio máximo, por lo que comparamos forma, no magnitud ni potencia. Respuesta temprana y resolución de severidad son propiedades distintas. Detectar a un nivel de falsos positivos fijado exige calibración con referencias independientes. Fuente: kernel_substitutions.json.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8e128a20f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8e128a20f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GraphStats usa el estimador sesgado MMD² = Kxx + Kyy − 2Kxy con kernel gaussiano. WL usa MMD² lineal, que equivale a la distancia euclidiana al cuadrado entre medias de histogramas. El kernel lineal no detecta en general cambios de momentos superiores de la distribución de características. Fuente: Gretton et al. (2012), https://www.jmlr.org/papers/volume13/gretton12a/gretton12a.pdf . Implementación y controles: results/analysis/2026-09-17_mmd_explanation.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8e128a20f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8e128a20f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Control exploratorio sobre los mismos grafos BA y descriptores. Solo cambiamos σ. Un ancho de banda mayor desplaza la transición, pero σ = 100 no queda validado como óptimo general. Fijar σ entre intensidades mantiene la misma regla de medida. Importa su relación con la escala de los conteos crudos. O’Bray et al. (2022), https://arxiv.org/pdf/2106.01098 . Datos: kernel_substitutions.json.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8e128a20f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8e128a20f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Kxx: similitud media dentro de la colección original. Kyy: dentro de la perturbada. Kxy: entre colecciones. Al quedar Kxy casi en cero, la disminución de Kyy reduce MMD². La distancia euclidiana media de cada par de descriptores sigue aumentando. Esto explica la pérdida de resolución en esta trayectoria sin suponer que los grafos regresen hacia el original. Valores reconstruidos sobre registros corregidos. Fuente: mechanism_decompositions.json.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8e128a20f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8e128a20f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Correlaciones por réplica y mediana de las tres, sin agrupar todos los puntos como independientes. Excluimos α = 0 porque las copias idénticas fuerzan score cero. ER no tiene comunidades plantadas. SBM sí las tiene y este resultado procede de un control adicional corregido. No concluimos que un método identifique mejor comunidades ni que tenga mayor potencia. Las escalas brutas de GraphStats y WL no son comparables. Fuente: community_comparison.json.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8e128a20f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8e128a20f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SBM, debilitamiento de comunidades, α = 1, ancho de banda 10, tres réplicas. Al omitir el conteo de triángulos, MMD² pasa de 0,317344 a 0,000846. Los triángulos medios bajan de 27,38 a 15,70. La respuesta mide una consecuencia estructural de la intervención, sin identificar directamente la partición. Las omisiones cambian la geometría del kernel y no equivalen a importancias causales aditivas. Barras: medias. Puntos: réplicas. Fuente: community_descriptor_ablation.json.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8e128a20f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8e128a20f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ejemplo de vecindarios es conceptual. WL deriva sus características de la topología, por lo que un cambio estructural altera sus histogramas. La implementación usa grados iniciales y tres rondas, sin etiquetas de comunidades ni atributos químicos. Los valores 186/300 y 98,4 % corresponden a BA con cierre de triángulos. La primera cifra indica algún descenso entre intensidades positivas consecutivas de la distancia individual. La segunda es una descomposición por niveles del kernel lineal. Fuente: Shervashidze et al. (2011), https://jmlr.org/papers/volume12/shervashidze11a/shervashidze11a.pdf . Datos: graph_trajectory_diagnostics.json y mechanism_decompositions.json.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8e128a20f_1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8e128a20f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Propuestas, no resultados ya ejecutados. La calibración debe usar referencias independientes y respetar el diseño emparejado a lo largo de α. Evitar elegir σ solo porque ordena bien estas curvas. La reconexión actual conserva aristas, pero no grados. La campaña completa corregida no se ha ejecutado. Hipótesis respaldada: con descriptores sin estandarizar y RBF σ = 10, grandes desplazamientos por adiciones pueden reducir la resolución del score en BA.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8e128a20f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8e128a20f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Control exploratorio sobre BA con cierre de triángulos. Con los mismos descriptores GraphStats, el kernel lineal elimina el pico temprano observado con RBF. En α = 0,1 alcanza el 0,55 % de su máximo frente al 57,8 % de RBF. Para WL, el ancho RBF usa la mediana de distancias positivas entre representaciones originales por réplica, aproximadamente 19,7–19,9, fijo a lo largo de α. Cada curva se normaliza por su propio máximo. Las configuraciones oficiales no cambian. Fuente: kernel_substitutions.json.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8e128a20f_1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8e128a20f_1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ER no tiene partición plantada. La media de triángulos cambia poco, de 33,71 a 33,41, y el número de aristas permanece igual. WL puede registrar cambios en patrones de vecindario que no alteran mucho estos resúmenes. Pero aproximadamente el 99,7 % de las etiquetas de sus rondas profundas son exclusivas en estos conjuntos. Incluso muestras independientes sin perturbación aportan aproximadamente 1,0 por ronda profunda. Por eso una puntuación positiva no demuestra un efecto comunitario. Las pocas referencias disponibles ilustran el mecanismo y no calibran un test. Fuente: community_comparison.json y wl_resolution_diagnostic.json.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s">
                <a:latin typeface="Arimo"/>
                <a:ea typeface="Arimo"/>
                <a:cs typeface="Arimo"/>
                <a:sym typeface="Arimo"/>
              </a:rPr>
              <a:t>Sensibilidad a</a:t>
            </a:r>
            <a:endParaRPr>
              <a:latin typeface="Arimo"/>
              <a:ea typeface="Arimo"/>
              <a:cs typeface="Arimo"/>
              <a:sym typeface="Arimo"/>
            </a:endParaRPr>
          </a:p>
          <a:p>
            <a:pPr indent="0" lvl="0" marL="0" rtl="0" algn="ctr">
              <a:spcBef>
                <a:spcPts val="0"/>
              </a:spcBef>
              <a:spcAft>
                <a:spcPts val="0"/>
              </a:spcAft>
              <a:buClr>
                <a:schemeClr val="dk1"/>
              </a:buClr>
              <a:buSzPts val="990"/>
              <a:buFont typeface="Arial"/>
              <a:buNone/>
            </a:pPr>
            <a:r>
              <a:rPr lang="es">
                <a:latin typeface="Arimo"/>
                <a:ea typeface="Arimo"/>
                <a:cs typeface="Arimo"/>
                <a:sym typeface="Arimo"/>
              </a:rPr>
              <a:t>perturbaciones estructurales</a:t>
            </a:r>
            <a:endParaRPr>
              <a:latin typeface="Arimo"/>
              <a:ea typeface="Arimo"/>
              <a:cs typeface="Arimo"/>
              <a:sym typeface="Arimo"/>
            </a:endParaRPr>
          </a:p>
          <a:p>
            <a:pPr indent="0" lvl="0" marL="0" rtl="0" algn="ctr">
              <a:spcBef>
                <a:spcPts val="0"/>
              </a:spcBef>
              <a:spcAft>
                <a:spcPts val="0"/>
              </a:spcAft>
              <a:buNone/>
            </a:pPr>
            <a:r>
              <a:t/>
            </a:r>
            <a:endParaRPr>
              <a:latin typeface="Arimo"/>
              <a:ea typeface="Arimo"/>
              <a:cs typeface="Arimo"/>
              <a:sym typeface="Arimo"/>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s" sz="2400">
                <a:latin typeface="Arimo"/>
                <a:ea typeface="Arimo"/>
                <a:cs typeface="Arimo"/>
                <a:sym typeface="Arimo"/>
              </a:rPr>
              <a:t>BA: respuesta temprana y pérdida de resolución</a:t>
            </a:r>
            <a:endParaRPr sz="2400">
              <a:latin typeface="Arimo"/>
              <a:ea typeface="Arimo"/>
              <a:cs typeface="Arimo"/>
              <a:sym typeface="Arimo"/>
            </a:endParaRPr>
          </a:p>
          <a:p>
            <a:pPr indent="0" lvl="0" marL="0" rtl="0" algn="ctr">
              <a:spcBef>
                <a:spcPts val="0"/>
              </a:spcBef>
              <a:spcAft>
                <a:spcPts val="0"/>
              </a:spcAft>
              <a:buClr>
                <a:schemeClr val="dk1"/>
              </a:buClr>
              <a:buSzPts val="1100"/>
              <a:buFont typeface="Arial"/>
              <a:buNone/>
            </a:pPr>
            <a:r>
              <a:rPr lang="es" sz="2400">
                <a:latin typeface="Arimo"/>
                <a:ea typeface="Arimo"/>
                <a:cs typeface="Arimo"/>
                <a:sym typeface="Arimo"/>
              </a:rPr>
              <a:t>Controles del kernel y de estructura comunitaria</a:t>
            </a:r>
            <a:endParaRPr sz="2400">
              <a:latin typeface="Arimo"/>
              <a:ea typeface="Arimo"/>
              <a:cs typeface="Arimo"/>
              <a:sym typeface="Arimo"/>
            </a:endParaRPr>
          </a:p>
          <a:p>
            <a:pPr indent="0" lvl="0" marL="0" rtl="0" algn="ctr">
              <a:spcBef>
                <a:spcPts val="0"/>
              </a:spcBef>
              <a:spcAft>
                <a:spcPts val="0"/>
              </a:spcAft>
              <a:buNone/>
            </a:pPr>
            <a:r>
              <a:t/>
            </a:r>
            <a:endParaRPr sz="2400">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Arimo"/>
                <a:ea typeface="Arimo"/>
                <a:cs typeface="Arimo"/>
                <a:sym typeface="Arimo"/>
              </a:rPr>
              <a:t>Adiciones, mecanismos y comunidades</a:t>
            </a:r>
            <a:endParaRPr>
              <a:latin typeface="Arimo"/>
              <a:ea typeface="Arimo"/>
              <a:cs typeface="Arimo"/>
              <a:sym typeface="Arimo"/>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Clr>
                <a:schemeClr val="dk1"/>
              </a:buClr>
              <a:buSzPts val="1100"/>
              <a:buFont typeface="Arial"/>
              <a:buNone/>
            </a:pPr>
            <a:r>
              <a:rPr lang="es" sz="2400">
                <a:solidFill>
                  <a:srgbClr val="666666"/>
                </a:solidFill>
                <a:latin typeface="Arimo"/>
                <a:ea typeface="Arimo"/>
                <a:cs typeface="Arimo"/>
                <a:sym typeface="Arimo"/>
              </a:rPr>
              <a:t>Adiciones en BA: 5 minutos</a:t>
            </a:r>
            <a:endParaRPr sz="2400">
              <a:solidFill>
                <a:srgbClr val="666666"/>
              </a:solidFill>
              <a:latin typeface="Arimo"/>
              <a:ea typeface="Arimo"/>
              <a:cs typeface="Arimo"/>
              <a:sym typeface="Arimo"/>
            </a:endParaRPr>
          </a:p>
          <a:p>
            <a:pPr indent="0" lvl="0" marL="457200" rtl="0" algn="l">
              <a:spcBef>
                <a:spcPts val="1200"/>
              </a:spcBef>
              <a:spcAft>
                <a:spcPts val="0"/>
              </a:spcAft>
              <a:buClr>
                <a:schemeClr val="dk1"/>
              </a:buClr>
              <a:buSzPts val="1100"/>
              <a:buFont typeface="Arial"/>
              <a:buNone/>
            </a:pPr>
            <a:r>
              <a:rPr lang="es" sz="2400">
                <a:solidFill>
                  <a:srgbClr val="666666"/>
                </a:solidFill>
                <a:latin typeface="Arimo"/>
                <a:ea typeface="Arimo"/>
                <a:cs typeface="Arimo"/>
                <a:sym typeface="Arimo"/>
              </a:rPr>
              <a:t>Kernel y ancho de banda: 5 minutos</a:t>
            </a:r>
            <a:endParaRPr sz="2400">
              <a:solidFill>
                <a:srgbClr val="666666"/>
              </a:solidFill>
              <a:latin typeface="Arimo"/>
              <a:ea typeface="Arimo"/>
              <a:cs typeface="Arimo"/>
              <a:sym typeface="Arimo"/>
            </a:endParaRPr>
          </a:p>
          <a:p>
            <a:pPr indent="0" lvl="0" marL="457200" rtl="0" algn="l">
              <a:spcBef>
                <a:spcPts val="1200"/>
              </a:spcBef>
              <a:spcAft>
                <a:spcPts val="0"/>
              </a:spcAft>
              <a:buClr>
                <a:schemeClr val="dk1"/>
              </a:buClr>
              <a:buSzPts val="1100"/>
              <a:buFont typeface="Arial"/>
              <a:buNone/>
            </a:pPr>
            <a:r>
              <a:rPr lang="es" sz="2400">
                <a:solidFill>
                  <a:srgbClr val="666666"/>
                </a:solidFill>
                <a:latin typeface="Arimo"/>
                <a:ea typeface="Arimo"/>
                <a:cs typeface="Arimo"/>
                <a:sym typeface="Arimo"/>
              </a:rPr>
              <a:t>Comunidades en ER y SBM: 5 minutos</a:t>
            </a:r>
            <a:endParaRPr sz="2400">
              <a:solidFill>
                <a:srgbClr val="666666"/>
              </a:solidFill>
              <a:latin typeface="Arimo"/>
              <a:ea typeface="Arimo"/>
              <a:cs typeface="Arimo"/>
              <a:sym typeface="Arimo"/>
            </a:endParaRPr>
          </a:p>
          <a:p>
            <a:pPr indent="0" lvl="0" marL="457200" rtl="0" algn="l">
              <a:spcBef>
                <a:spcPts val="1200"/>
              </a:spcBef>
              <a:spcAft>
                <a:spcPts val="0"/>
              </a:spcAft>
              <a:buClr>
                <a:schemeClr val="dk1"/>
              </a:buClr>
              <a:buSzPts val="1100"/>
              <a:buFont typeface="Arial"/>
              <a:buNone/>
            </a:pPr>
            <a:r>
              <a:rPr lang="es" sz="2400">
                <a:solidFill>
                  <a:srgbClr val="666666"/>
                </a:solidFill>
                <a:latin typeface="Arimo"/>
                <a:ea typeface="Arimo"/>
                <a:cs typeface="Arimo"/>
                <a:sym typeface="Arimo"/>
              </a:rPr>
              <a:t>Decisiones y preguntas: 3 minutos</a:t>
            </a:r>
            <a:endParaRPr sz="2400">
              <a:solidFill>
                <a:srgbClr val="666666"/>
              </a:solidFill>
              <a:latin typeface="Arimo"/>
              <a:ea typeface="Arimo"/>
              <a:cs typeface="Arimo"/>
              <a:sym typeface="Arimo"/>
            </a:endParaRPr>
          </a:p>
          <a:p>
            <a:pPr indent="0" lvl="0" marL="457200" rtl="0" algn="l">
              <a:spcBef>
                <a:spcPts val="1200"/>
              </a:spcBef>
              <a:spcAft>
                <a:spcPts val="1200"/>
              </a:spcAft>
              <a:buNone/>
            </a:pPr>
            <a:r>
              <a:t/>
            </a:r>
            <a:endParaRPr sz="2400">
              <a:solidFill>
                <a:srgbClr val="666666"/>
              </a:solidFill>
              <a:latin typeface="Arimo"/>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latin typeface="Arimo"/>
                <a:ea typeface="Arimo"/>
                <a:cs typeface="Arimo"/>
                <a:sym typeface="Arimo"/>
              </a:rPr>
              <a:t>Resultados corregidos y sensibilidad</a:t>
            </a:r>
            <a:endParaRPr sz="2400">
              <a:latin typeface="Arimo"/>
              <a:ea typeface="Arimo"/>
              <a:cs typeface="Arimo"/>
              <a:sym typeface="Arimo"/>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a:t>3 réplicas por configuración, con 100 grafos cada una.</a:t>
            </a:r>
            <a:endParaRPr/>
          </a:p>
          <a:p>
            <a:pPr indent="0" lvl="0" marL="0" rtl="0" algn="l">
              <a:spcBef>
                <a:spcPts val="1200"/>
              </a:spcBef>
              <a:spcAft>
                <a:spcPts val="0"/>
              </a:spcAft>
              <a:buClr>
                <a:schemeClr val="dk1"/>
              </a:buClr>
              <a:buSzPts val="1100"/>
              <a:buFont typeface="Arial"/>
              <a:buNone/>
            </a:pPr>
            <a:r>
              <a:rPr lang="es"/>
              <a:t>11 valores de α sobre los mismos grafos de referencia.</a:t>
            </a:r>
            <a:endParaRPr/>
          </a:p>
          <a:p>
            <a:pPr indent="0" lvl="0" marL="0" rtl="0" algn="l">
              <a:spcBef>
                <a:spcPts val="1200"/>
              </a:spcBef>
              <a:spcAft>
                <a:spcPts val="0"/>
              </a:spcAft>
              <a:buClr>
                <a:schemeClr val="dk1"/>
              </a:buClr>
              <a:buSzPts val="1100"/>
              <a:buFont typeface="Arial"/>
              <a:buNone/>
            </a:pPr>
            <a:r>
              <a:rPr lang="es"/>
              <a:t>Las curvas describen respuesta y resolución de severidad.</a:t>
            </a:r>
            <a:endParaRPr/>
          </a:p>
          <a:p>
            <a:pPr indent="0" lvl="0" marL="0" rtl="0" algn="l">
              <a:spcBef>
                <a:spcPts val="1200"/>
              </a:spcBef>
              <a:spcAft>
                <a:spcPts val="0"/>
              </a:spcAft>
              <a:buClr>
                <a:schemeClr val="dk1"/>
              </a:buClr>
              <a:buSzPts val="1100"/>
              <a:buFont typeface="Arial"/>
              <a:buNone/>
            </a:pPr>
            <a:r>
              <a:rPr lang="es"/>
              <a:t>La potencia de detección requiere calibración adicional.</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3" name="Google Shape;73;p16" title="ba_adiciones.png"/>
          <p:cNvPicPr preferRelativeResize="0"/>
          <p:nvPr/>
        </p:nvPicPr>
        <p:blipFill>
          <a:blip r:embed="rId3">
            <a:alphaModFix/>
          </a:blip>
          <a:stretch>
            <a:fillRect/>
          </a:stretch>
        </p:blipFill>
        <p:spPr>
          <a:xfrm>
            <a:off x="0" y="730002"/>
            <a:ext cx="9144003" cy="3683497"/>
          </a:xfrm>
          <a:prstGeom prst="rect">
            <a:avLst/>
          </a:prstGeom>
          <a:noFill/>
          <a:ln>
            <a:noFill/>
          </a:ln>
        </p:spPr>
      </p:pic>
      <p:sp>
        <p:nvSpPr>
          <p:cNvPr id="74" name="Google Shape;74;p16"/>
          <p:cNvSpPr txBox="1"/>
          <p:nvPr/>
        </p:nvSpPr>
        <p:spPr>
          <a:xfrm>
            <a:off x="401200" y="131750"/>
            <a:ext cx="84312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En BA, más aristas pueden dar un score menor</a:t>
            </a:r>
            <a:endParaRPr sz="30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0" name="Google Shape;80;p17" title="respuesta_temprana.png"/>
          <p:cNvPicPr preferRelativeResize="0"/>
          <p:nvPr/>
        </p:nvPicPr>
        <p:blipFill rotWithShape="1">
          <a:blip r:embed="rId3">
            <a:alphaModFix/>
          </a:blip>
          <a:srcRect b="0" l="0" r="0" t="0"/>
          <a:stretch/>
        </p:blipFill>
        <p:spPr>
          <a:xfrm>
            <a:off x="0" y="730002"/>
            <a:ext cx="9144003" cy="3683497"/>
          </a:xfrm>
          <a:prstGeom prst="rect">
            <a:avLst/>
          </a:prstGeom>
          <a:noFill/>
          <a:ln>
            <a:noFill/>
          </a:ln>
        </p:spPr>
      </p:pic>
      <p:sp>
        <p:nvSpPr>
          <p:cNvPr id="81" name="Google Shape;81;p17"/>
          <p:cNvSpPr txBox="1"/>
          <p:nvPr/>
        </p:nvSpPr>
        <p:spPr>
          <a:xfrm>
            <a:off x="401200" y="131750"/>
            <a:ext cx="84312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GraphStats responde antes que WL en BA</a:t>
            </a:r>
            <a:endParaRPr sz="30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nvSpPr>
        <p:spPr>
          <a:xfrm>
            <a:off x="401200" y="401200"/>
            <a:ext cx="8371500" cy="6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MMD usa dos geometrías diferentes</a:t>
            </a:r>
            <a:endParaRPr sz="3000">
              <a:solidFill>
                <a:schemeClr val="dk2"/>
              </a:solidFill>
            </a:endParaRPr>
          </a:p>
        </p:txBody>
      </p:sp>
      <p:sp>
        <p:nvSpPr>
          <p:cNvPr id="87" name="Google Shape;87;p18"/>
          <p:cNvSpPr txBox="1"/>
          <p:nvPr/>
        </p:nvSpPr>
        <p:spPr>
          <a:xfrm>
            <a:off x="455100" y="940150"/>
            <a:ext cx="8227800" cy="29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400">
                <a:solidFill>
                  <a:schemeClr val="dk2"/>
                </a:solidFill>
              </a:rPr>
              <a:t>GraphStats</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9 estadísticas sin estandarizar y kernel RBF, σ = 10.</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WL</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Histogramas de grados y vecindarios y kernel lineal.</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El kernel determina qué discrepancias mide MMD.</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3" name="Google Shape;93;p19" title="ancho_de_banda.png"/>
          <p:cNvPicPr preferRelativeResize="0"/>
          <p:nvPr/>
        </p:nvPicPr>
        <p:blipFill rotWithShape="1">
          <a:blip r:embed="rId3">
            <a:alphaModFix/>
          </a:blip>
          <a:srcRect b="0" l="0" r="0" t="0"/>
          <a:stretch/>
        </p:blipFill>
        <p:spPr>
          <a:xfrm>
            <a:off x="0" y="730002"/>
            <a:ext cx="9144003" cy="3683497"/>
          </a:xfrm>
          <a:prstGeom prst="rect">
            <a:avLst/>
          </a:prstGeom>
          <a:noFill/>
          <a:ln>
            <a:noFill/>
          </a:ln>
        </p:spPr>
      </p:pic>
      <p:sp>
        <p:nvSpPr>
          <p:cNvPr id="94" name="Google Shape;94;p19"/>
          <p:cNvSpPr txBox="1"/>
          <p:nvPr/>
        </p:nvSpPr>
        <p:spPr>
          <a:xfrm>
            <a:off x="401200" y="131750"/>
            <a:ext cx="84312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El ancho de banda cambia la respuesta</a:t>
            </a:r>
            <a:endParaRPr sz="30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nvSpPr>
        <p:spPr>
          <a:xfrm>
            <a:off x="401200" y="401200"/>
            <a:ext cx="8371500" cy="6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El score cae aunque los cambios aumentan</a:t>
            </a:r>
            <a:endParaRPr sz="3000">
              <a:solidFill>
                <a:schemeClr val="dk2"/>
              </a:solidFill>
            </a:endParaRPr>
          </a:p>
        </p:txBody>
      </p:sp>
      <p:sp>
        <p:nvSpPr>
          <p:cNvPr id="100" name="Google Shape;100;p20"/>
          <p:cNvSpPr txBox="1"/>
          <p:nvPr/>
        </p:nvSpPr>
        <p:spPr>
          <a:xfrm>
            <a:off x="455100" y="940150"/>
            <a:ext cx="8227800" cy="29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400">
                <a:solidFill>
                  <a:schemeClr val="dk2"/>
                </a:solidFill>
              </a:rPr>
              <a:t>BA, cierre de triángulos: α = 0,3 frente a α = 1</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MMD²: 1,591 frente a 1,332</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Kyy: 0,767 frente a 0,507, con Kxy ≈ 0</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Desplazamiento de descriptores: 47,2 frente a 189,4</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MMD² = Kxx + Kyy − 2Kxy, con Kxx constante</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nvSpPr>
        <p:spPr>
          <a:xfrm>
            <a:off x="401200" y="401200"/>
            <a:ext cx="8371500" cy="6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La ordenación comunitaria depende del dataset</a:t>
            </a:r>
            <a:endParaRPr sz="3000">
              <a:solidFill>
                <a:schemeClr val="dk2"/>
              </a:solidFill>
            </a:endParaRPr>
          </a:p>
        </p:txBody>
      </p:sp>
      <p:sp>
        <p:nvSpPr>
          <p:cNvPr id="106" name="Google Shape;106;p21"/>
          <p:cNvSpPr txBox="1"/>
          <p:nvPr/>
        </p:nvSpPr>
        <p:spPr>
          <a:xfrm>
            <a:off x="455100" y="940150"/>
            <a:ext cx="8227800" cy="29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400">
                <a:solidFill>
                  <a:schemeClr val="dk2"/>
                </a:solidFill>
              </a:rPr>
              <a:t>Mediana de Spearman entre score y α positivo</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ER: GraphStats −0,12 y WL 0,70</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SBM: GraphStats 0,93 y WL 0,50</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WL ordena mejor en ER y GraphStats en este SBM.</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Estos valores describen ordenación, no potencia.</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2" name="Google Shape;112;p22" title="control_triangulos_sbm.png"/>
          <p:cNvPicPr preferRelativeResize="0"/>
          <p:nvPr/>
        </p:nvPicPr>
        <p:blipFill rotWithShape="1">
          <a:blip r:embed="rId3">
            <a:alphaModFix/>
          </a:blip>
          <a:srcRect b="0" l="0" r="0" t="0"/>
          <a:stretch/>
        </p:blipFill>
        <p:spPr>
          <a:xfrm>
            <a:off x="0" y="730002"/>
            <a:ext cx="9144003" cy="3683497"/>
          </a:xfrm>
          <a:prstGeom prst="rect">
            <a:avLst/>
          </a:prstGeom>
          <a:noFill/>
          <a:ln>
            <a:noFill/>
          </a:ln>
        </p:spPr>
      </p:pic>
      <p:sp>
        <p:nvSpPr>
          <p:cNvPr id="113" name="Google Shape;113;p22"/>
          <p:cNvSpPr txBox="1"/>
          <p:nvPr/>
        </p:nvSpPr>
        <p:spPr>
          <a:xfrm>
            <a:off x="401200" y="131750"/>
            <a:ext cx="84312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Los triángulos dominan la respuesta en SBM</a:t>
            </a:r>
            <a:endParaRPr sz="30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nvSpPr>
        <p:spPr>
          <a:xfrm>
            <a:off x="401200" y="401200"/>
            <a:ext cx="8371500" cy="6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WL detecta cambios en los vecindarios</a:t>
            </a:r>
            <a:endParaRPr sz="3000">
              <a:solidFill>
                <a:schemeClr val="dk2"/>
              </a:solidFill>
            </a:endParaRPr>
          </a:p>
        </p:txBody>
      </p:sp>
      <p:sp>
        <p:nvSpPr>
          <p:cNvPr id="119" name="Google Shape;119;p23"/>
          <p:cNvSpPr txBox="1"/>
          <p:nvPr/>
        </p:nvSpPr>
        <p:spPr>
          <a:xfrm>
            <a:off x="455100" y="940150"/>
            <a:ext cx="8227800" cy="29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400">
                <a:solidFill>
                  <a:schemeClr val="dk2"/>
                </a:solidFill>
              </a:rPr>
              <a:t>Grado 3: vecinos {1,1,4} frente a {2,2,2}.</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WL distingue estos patrones tras un refinamiento.</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En BA, 186 de 300 trayectorias individuales retroceden</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al menos una vez, aunque crezca el score agregado.</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El grado aporta el 98,4 % del score WL final en BA.</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nvSpPr>
        <p:spPr>
          <a:xfrm>
            <a:off x="401200" y="401200"/>
            <a:ext cx="8371500" cy="6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Decisiones para evaluar sensibilidad</a:t>
            </a:r>
            <a:endParaRPr sz="3000">
              <a:solidFill>
                <a:schemeClr val="dk2"/>
              </a:solidFill>
            </a:endParaRPr>
          </a:p>
        </p:txBody>
      </p:sp>
      <p:sp>
        <p:nvSpPr>
          <p:cNvPr id="125" name="Google Shape;125;p24"/>
          <p:cNvSpPr txBox="1"/>
          <p:nvPr/>
        </p:nvSpPr>
        <p:spPr>
          <a:xfrm>
            <a:off x="455100" y="940150"/>
            <a:ext cx="8227800" cy="29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400">
                <a:solidFill>
                  <a:schemeClr val="dk2"/>
                </a:solidFill>
              </a:rPr>
              <a:t>Calibrar umbrales con colecciones sin perturbación.</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Fijar escalas y σ usando muestras de referencia.</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Comparar comunidades preservando los grados.</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Ampliar réplicas antes de generalizar.</a:t>
            </a:r>
            <a:endParaRPr sz="2400">
              <a:solidFill>
                <a:schemeClr val="dk2"/>
              </a:solidFill>
            </a:endParaRPr>
          </a:p>
          <a:p>
            <a:pPr indent="0" lvl="0" marL="0" rtl="0" algn="l">
              <a:spcBef>
                <a:spcPts val="0"/>
              </a:spcBef>
              <a:spcAft>
                <a:spcPts val="0"/>
              </a:spcAft>
              <a:buClr>
                <a:schemeClr val="dk1"/>
              </a:buClr>
              <a:buSzPts val="1100"/>
              <a:buFont typeface="Arial"/>
              <a:buNone/>
            </a:pPr>
            <a:r>
              <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¿Priorizamos detectar cambios pequeños</a:t>
            </a:r>
            <a:endParaRPr sz="2400">
              <a:solidFill>
                <a:schemeClr val="dk2"/>
              </a:solidFill>
            </a:endParaRPr>
          </a:p>
          <a:p>
            <a:pPr indent="0" lvl="0" marL="0" rtl="0" algn="l">
              <a:spcBef>
                <a:spcPts val="0"/>
              </a:spcBef>
              <a:spcAft>
                <a:spcPts val="0"/>
              </a:spcAft>
              <a:buClr>
                <a:schemeClr val="dk1"/>
              </a:buClr>
              <a:buSzPts val="1100"/>
              <a:buFont typeface="Arial"/>
              <a:buNone/>
            </a:pPr>
            <a:r>
              <a:rPr lang="es" sz="2400">
                <a:solidFill>
                  <a:schemeClr val="dk2"/>
                </a:solidFill>
              </a:rPr>
              <a:t>o distinguir grados de perturbación?</a:t>
            </a:r>
            <a:endParaRPr sz="2400">
              <a:solidFill>
                <a:schemeClr val="dk2"/>
              </a:solidFill>
            </a:endParaRPr>
          </a:p>
          <a:p>
            <a:pPr indent="0" lvl="0" marL="0" rtl="0" algn="l">
              <a:spcBef>
                <a:spcPts val="0"/>
              </a:spcBef>
              <a:spcAft>
                <a:spcPts val="0"/>
              </a:spcAft>
              <a:buNone/>
            </a:pPr>
            <a:r>
              <a:t/>
            </a:r>
            <a:endParaRPr sz="24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1" name="Google Shape;131;p25" title="control_del_kernel.png"/>
          <p:cNvPicPr preferRelativeResize="0"/>
          <p:nvPr/>
        </p:nvPicPr>
        <p:blipFill rotWithShape="1">
          <a:blip r:embed="rId3">
            <a:alphaModFix/>
          </a:blip>
          <a:srcRect b="0" l="0" r="0" t="0"/>
          <a:stretch/>
        </p:blipFill>
        <p:spPr>
          <a:xfrm>
            <a:off x="0" y="730002"/>
            <a:ext cx="9144003" cy="3683497"/>
          </a:xfrm>
          <a:prstGeom prst="rect">
            <a:avLst/>
          </a:prstGeom>
          <a:noFill/>
          <a:ln>
            <a:noFill/>
          </a:ln>
        </p:spPr>
      </p:pic>
      <p:sp>
        <p:nvSpPr>
          <p:cNvPr id="132" name="Google Shape;132;p25"/>
          <p:cNvSpPr txBox="1"/>
          <p:nvPr/>
        </p:nvSpPr>
        <p:spPr>
          <a:xfrm>
            <a:off x="401200" y="131750"/>
            <a:ext cx="84312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Anexo: el kernel cambia la forma de la curva</a:t>
            </a:r>
            <a:endParaRPr sz="30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8" name="Google Shape;138;p26" title="comunidades_er.png"/>
          <p:cNvPicPr preferRelativeResize="0"/>
          <p:nvPr/>
        </p:nvPicPr>
        <p:blipFill rotWithShape="1">
          <a:blip r:embed="rId3">
            <a:alphaModFix/>
          </a:blip>
          <a:srcRect b="0" l="0" r="0" t="0"/>
          <a:stretch/>
        </p:blipFill>
        <p:spPr>
          <a:xfrm>
            <a:off x="0" y="730002"/>
            <a:ext cx="9144003" cy="3683497"/>
          </a:xfrm>
          <a:prstGeom prst="rect">
            <a:avLst/>
          </a:prstGeom>
          <a:noFill/>
          <a:ln>
            <a:noFill/>
          </a:ln>
        </p:spPr>
      </p:pic>
      <p:sp>
        <p:nvSpPr>
          <p:cNvPr id="139" name="Google Shape;139;p26"/>
          <p:cNvSpPr txBox="1"/>
          <p:nvPr/>
        </p:nvSpPr>
        <p:spPr>
          <a:xfrm>
            <a:off x="401200" y="131750"/>
            <a:ext cx="84312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000">
                <a:solidFill>
                  <a:schemeClr val="dk2"/>
                </a:solidFill>
              </a:rPr>
              <a:t>Anexo: comunidades en ER, réplica por réplica</a:t>
            </a:r>
            <a:endParaRPr sz="3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